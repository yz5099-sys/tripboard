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 useTimings="0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/>
  <p:notesTextViewPr/>
  <p:gridSpacing cx="780288" cy="78028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  <Relationship Id="rId15" Type="http://schemas.openxmlformats.org/officeDocument/2006/relationships/slide" Target="slides/slide15.xml"/>
  <Relationship Id="rId16" Type="http://schemas.openxmlformats.org/officeDocument/2006/relationships/slide" Target="slides/slide16.xml"/>
  <Relationship Id="rId17" Type="http://schemas.openxmlformats.org/officeDocument/2006/relationships/slide" Target="slides/slide17.xml"/>
  <Relationship Id="rId18" Type="http://schemas.openxmlformats.org/officeDocument/2006/relationships/slide" Target="slides/slide18.xml"/>
  <Relationship Id="rId19" Type="http://schemas.openxmlformats.org/officeDocument/2006/relationships/slideMaster" Target="slideMasters/slideMaster1.xml"/>
  <Relationship Id="rId20" Type="http://schemas.openxmlformats.org/officeDocument/2006/relationships/presProps" Target="presProps.xml"/>
  <Relationship Id="rId21" Type="http://schemas.openxmlformats.org/officeDocument/2006/relationships/viewProps" Target="viewProps.xml"/>
  <Relationship Id="rId22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/>
    </p:titleStyle>
    <p:bodyStyle>
      <a:lvl1pPr marL="0" indent="0"/>
    </p:bodyStyle>
    <p:otherStyle>
      <a:defPPr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Friendship in Networked Publics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822960" y="1828800"/>
            <a:ext cx="10058400" cy="2468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200"/>
              <a:t>danah boyd, chapter 2 of Hanging Out, Messing Around, and</a:t>
            </a:r>
          </a:p>
          <a:p>
            <a:pPr/>
            <a:r>
              <a:rPr lang="en-US" sz="2200"/>
              <a:t>Geeking Out</a:t>
            </a:r>
          </a:p>
          <a:p>
            <a:pPr/>
            <a:r>
              <a:rPr lang="en-US" sz="2200"/>
              <a:t/>
            </a:r>
          </a:p>
          <a:p>
            <a:pPr/>
            <a:r>
              <a:rPr lang="en-US" sz="2200"/>
              <a:t>Communication Theory presentation</a:t>
            </a:r>
          </a:p>
          <a:p>
            <a:pPr/>
            <a:r>
              <a:rPr lang="en-US" sz="2200"/>
              <a:t/>
            </a:r>
          </a:p>
          <a:p>
            <a:pPr/>
            <a:r>
              <a:rPr lang="en-US" sz="2200"/>
              <a:t>Core question: What changes when friendship becomes visible,</a:t>
            </a:r>
          </a:p>
          <a:p>
            <a:pPr/>
            <a:r>
              <a:rPr lang="en-US" sz="2200"/>
              <a:t>persistent, searchable, and platform-mediated?</a:t>
            </a:r>
          </a:p>
          <a:endParaRPr lang="en-US" sz="2200" dirty="0"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Why this chapter? Why me?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I chose this chapter because I care about how</a:t>
            </a:r>
          </a:p>
          <a:p>
            <a:pPr/>
            <a:r>
              <a:rPr lang="en-US" sz="2000"/>
              <a:t>communication technology shapes identity, belonging,</a:t>
            </a:r>
          </a:p>
          <a:p>
            <a:pPr/>
            <a:r>
              <a:rPr lang="en-US" sz="2000"/>
              <a:t>and social pressure.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Friendship is a theory-rich site:</a:t>
            </a:r>
          </a:p>
          <a:p>
            <a:pPr/>
            <a:r>
              <a:rPr lang="en-US" sz="2000"/>
              <a:t>self-presentation, audience management, status</a:t>
            </a:r>
          </a:p>
          <a:p>
            <a:pPr/>
            <a:r>
              <a:rPr lang="en-US" sz="2000"/>
              <a:t>negotiation, and platform affordances.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Key claim for this talk: social media are not a</a:t>
            </a:r>
          </a:p>
          <a:p>
            <a:pPr/>
            <a:r>
              <a:rPr lang="en-US" sz="2000"/>
              <a:t>separate world; they reorganize everyday social</a:t>
            </a:r>
          </a:p>
          <a:p>
            <a:pPr/>
            <a:r>
              <a:rPr lang="en-US" sz="2000"/>
              <a:t>life.</a:t>
            </a:r>
          </a:p>
          <a:endParaRPr lang="en-US" sz="2000" dirty="0"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Author, book, and research context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Book editor and lead organizer: Mizuko Ito;</a:t>
            </a:r>
          </a:p>
          <a:p>
            <a:pPr/>
            <a:r>
              <a:rPr lang="en-US" sz="2000"/>
              <a:t>chapter 2 lead author: danah boyd.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Research base: Digital Youth Project, funded by</a:t>
            </a:r>
          </a:p>
          <a:p>
            <a:pPr/>
            <a:r>
              <a:rPr lang="en-US" sz="2000"/>
              <a:t>the MacArthur Foundation Digital Media and Learning</a:t>
            </a:r>
          </a:p>
          <a:p>
            <a:pPr/>
            <a:r>
              <a:rPr lang="en-US" sz="2000"/>
              <a:t>initiative.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Method: collaborative ethnography across multiple</a:t>
            </a:r>
          </a:p>
          <a:p>
            <a:pPr/>
            <a:r>
              <a:rPr lang="en-US" sz="2000"/>
              <a:t>sites, interviews, and observations from roughly</a:t>
            </a:r>
          </a:p>
          <a:p>
            <a:pPr/>
            <a:r>
              <a:rPr lang="en-US" sz="2000"/>
              <a:t>2005-2008.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Value for communication theory: this is about</a:t>
            </a:r>
          </a:p>
          <a:p>
            <a:pPr/>
            <a:r>
              <a:rPr lang="en-US" sz="2000"/>
              <a:t>lived interaction and meaning-making, not just media</a:t>
            </a:r>
          </a:p>
          <a:p>
            <a:pPr/>
            <a:r>
              <a:rPr lang="en-US" sz="2000"/>
              <a:t>effects.</a:t>
            </a:r>
          </a:p>
          <a:endParaRPr lang="en-US" sz="2000" dirty="0"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Historical and cultural context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U.S. teen peer culture is shaped by</a:t>
            </a:r>
          </a:p>
          <a:p>
            <a:pPr/>
            <a:r>
              <a:rPr lang="en-US" sz="2000"/>
              <a:t>school-centered social life, age segregation, adult</a:t>
            </a:r>
          </a:p>
          <a:p>
            <a:pPr/>
            <a:r>
              <a:rPr lang="en-US" sz="2000"/>
              <a:t>monitoring, and commercial youth culture.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The mall symbolized teen hanging out in the 1980s;</a:t>
            </a:r>
          </a:p>
          <a:p>
            <a:pPr/>
            <a:r>
              <a:rPr lang="en-US" sz="2000"/>
              <a:t>MySpace, Facebook, IM, and mobile phones became key</a:t>
            </a:r>
          </a:p>
          <a:p>
            <a:pPr/>
            <a:r>
              <a:rPr lang="en-US" sz="2000"/>
              <a:t>peer infrastructures in the 2000s.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Important shift: hanging out no longer ends when</a:t>
            </a:r>
          </a:p>
          <a:p>
            <a:pPr/>
            <a:r>
              <a:rPr lang="en-US" sz="2000"/>
              <a:t>friends leave school.</a:t>
            </a:r>
          </a:p>
          <a:endParaRPr lang="en-US" sz="2000" dirty="0"/>
        </p:txBody>
      </p:sp>
      <p:sp>
        <p:nvSpPr>
          <p:cNvPr id="1" name="TextBox"/>
          <p:cNvSpPr txBox="1"/>
          <p:nvPr/>
        </p:nvSpPr>
        <p:spPr>
          <a:xfrm>
            <a:off x="731520" y="6309360"/>
            <a:ext cx="1060704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1500"/>
              <a:t>Discussion: Is social media replacing offline friendship spaces, or extending</a:t>
            </a:r>
          </a:p>
          <a:p>
            <a:pPr/>
            <a:r>
              <a:rPr lang="en-US" sz="1500"/>
              <a:t>them into new time-space conditions?</a:t>
            </a:r>
          </a:p>
          <a:endParaRPr lang="en-US" sz="1500" dirty="0"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The chapter's main claim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Social media do not invent teen friendship.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They intensify, extend, and reformat existing peer</a:t>
            </a:r>
          </a:p>
          <a:p>
            <a:pPr/>
            <a:r>
              <a:rPr lang="en-US" sz="2000"/>
              <a:t>dynamics.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boyd examines how technology helps establish,</a:t>
            </a:r>
          </a:p>
          <a:p>
            <a:pPr/>
            <a:r>
              <a:rPr lang="en-US" sz="2000"/>
              <a:t>reinforce, complicate, and sometimes damage</a:t>
            </a:r>
          </a:p>
          <a:p>
            <a:pPr/>
            <a:r>
              <a:rPr lang="en-US" sz="2000"/>
              <a:t>friendship ties.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Question to keep in mind: what kinds of sociality</a:t>
            </a:r>
          </a:p>
          <a:p>
            <a:pPr/>
            <a:r>
              <a:rPr lang="en-US" sz="2000"/>
              <a:t>do platforms make easier, harder, more visible, and</a:t>
            </a:r>
          </a:p>
          <a:p>
            <a:pPr/>
            <a:r>
              <a:rPr lang="en-US" sz="2000"/>
              <a:t>more consequential?</a:t>
            </a:r>
          </a:p>
          <a:endParaRPr lang="en-US" sz="2000" dirty="0"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Core concept: networked publics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boyd argues that social media create networked</a:t>
            </a:r>
          </a:p>
          <a:p>
            <a:pPr/>
            <a:r>
              <a:rPr lang="en-US" sz="2000"/>
              <a:t>publics.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Key properties: persistence, searchability,</a:t>
            </a:r>
          </a:p>
          <a:p>
            <a:pPr/>
            <a:r>
              <a:rPr lang="en-US" sz="2000"/>
              <a:t>replicability, and scalability.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Platforms are not neutral channels; they structure</a:t>
            </a:r>
          </a:p>
          <a:p>
            <a:pPr/>
            <a:r>
              <a:rPr lang="en-US" sz="2000"/>
              <a:t>what can be seen, remembered, circulated, and</a:t>
            </a:r>
          </a:p>
          <a:p>
            <a:pPr/>
            <a:r>
              <a:rPr lang="en-US" sz="2000"/>
              <a:t>judged.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Affordances do not determine behavior, but they</a:t>
            </a:r>
          </a:p>
          <a:p>
            <a:pPr/>
            <a:r>
              <a:rPr lang="en-US" sz="2000"/>
              <a:t>organize possibilities and pressures.</a:t>
            </a:r>
          </a:p>
          <a:endParaRPr lang="en-US" sz="2000" dirty="0"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Contribution 1: friendship as infrastructure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Most teens use social media with people they</a:t>
            </a:r>
          </a:p>
          <a:p>
            <a:pPr/>
            <a:r>
              <a:rPr lang="en-US" sz="2000"/>
              <a:t>already know from school and local life.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The online/offline split is therefore misleading.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Friendship-driven participation includes chatting,</a:t>
            </a:r>
          </a:p>
          <a:p>
            <a:pPr/>
            <a:r>
              <a:rPr lang="en-US" sz="2000"/>
              <a:t>checking in, monitoring each other, and staying in</a:t>
            </a:r>
          </a:p>
          <a:p>
            <a:pPr/>
            <a:r>
              <a:rPr lang="en-US" sz="2000"/>
              <a:t>the loop.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Mediated communication sustains peer publics even</a:t>
            </a:r>
          </a:p>
          <a:p>
            <a:pPr/>
            <a:r>
              <a:rPr lang="en-US" sz="2000"/>
              <a:t>when bodies are apart.</a:t>
            </a:r>
          </a:p>
          <a:endParaRPr lang="en-US" sz="2000" dirty="0"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Contribution 2: four friendship negotiations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making friends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performing friendships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articulating friendship hierarchies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navigating status, attention, and drama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This moves us away from 'good or bad media?'</a:t>
            </a:r>
          </a:p>
          <a:p>
            <a:pPr/>
            <a:r>
              <a:rPr lang="en-US" sz="2000"/>
              <a:t>toward 'what communicative work is happening here?'</a:t>
            </a:r>
          </a:p>
          <a:endParaRPr lang="en-US" sz="2000" dirty="0"/>
        </p:txBody>
      </p:sp>
      <p:sp>
        <p:nvSpPr>
          <p:cNvPr id="1" name="TextBox"/>
          <p:cNvSpPr txBox="1"/>
          <p:nvPr/>
        </p:nvSpPr>
        <p:spPr>
          <a:xfrm>
            <a:off x="731520" y="6309360"/>
            <a:ext cx="1060704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1500"/>
              <a:t>Discussion: Which of these four negotiations feels most central on today's</a:t>
            </a:r>
          </a:p>
          <a:p>
            <a:pPr/>
            <a:r>
              <a:rPr lang="en-US" sz="1500"/>
              <a:t>platforms?</a:t>
            </a:r>
          </a:p>
          <a:endParaRPr lang="en-US" sz="1500" dirty="0"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Example 1: making friends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Teens usually meet friends through existing peer</a:t>
            </a:r>
          </a:p>
          <a:p>
            <a:pPr/>
            <a:r>
              <a:rPr lang="en-US" sz="2000"/>
              <a:t>networks rather than random strangers.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Digital media help weak ties become stronger ties.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Friend requests and public connection lists also</a:t>
            </a:r>
          </a:p>
          <a:p>
            <a:pPr/>
            <a:r>
              <a:rPr lang="en-US" sz="2000"/>
              <a:t>make inclusion and exclusion visible.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Even a simple add-friend action works like a</a:t>
            </a:r>
          </a:p>
          <a:p>
            <a:pPr/>
            <a:r>
              <a:rPr lang="en-US" sz="2000"/>
              <a:t>public speech act about affiliation.</a:t>
            </a:r>
          </a:p>
          <a:endParaRPr lang="en-US" sz="2000" dirty="0"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Example 2: performing friendship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Friendship is not only felt; it is displayed.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Comments, profile interactions, photos, and public</a:t>
            </a:r>
          </a:p>
          <a:p>
            <a:pPr/>
            <a:r>
              <a:rPr lang="en-US" sz="2000"/>
              <a:t>exchanges become performances of closeness.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This strongly connects to Goffman's dramaturgical</a:t>
            </a:r>
          </a:p>
          <a:p>
            <a:pPr/>
            <a:r>
              <a:rPr lang="en-US" sz="2000"/>
              <a:t>theory.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Platforms complicate frontstage and backstage</a:t>
            </a:r>
          </a:p>
          <a:p>
            <a:pPr/>
            <a:r>
              <a:rPr lang="en-US" sz="2000"/>
              <a:t>boundaries by making friendship performance</a:t>
            </a:r>
          </a:p>
          <a:p>
            <a:pPr/>
            <a:r>
              <a:rPr lang="en-US" sz="2000"/>
              <a:t>persistent and shareable.</a:t>
            </a:r>
          </a:p>
          <a:endParaRPr lang="en-US" sz="2000" dirty="0"/>
        </p:txBody>
      </p:sp>
      <p:sp>
        <p:nvSpPr>
          <p:cNvPr id="1" name="TextBox"/>
          <p:cNvSpPr txBox="1"/>
          <p:nvPr/>
        </p:nvSpPr>
        <p:spPr>
          <a:xfrm>
            <a:off x="731520" y="6309360"/>
            <a:ext cx="1060704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1500"/>
              <a:t>Discussion: When friendship becomes visible content, does performance strengthen</a:t>
            </a:r>
          </a:p>
          <a:p>
            <a:pPr/>
            <a:r>
              <a:rPr lang="en-US" sz="1500"/>
              <a:t>intimacy or hollow it out?</a:t>
            </a:r>
          </a:p>
          <a:endParaRPr lang="en-US" sz="1500" dirty="0"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Example 3: ranking friends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MySpace Top Friends forced social hierarchy into</a:t>
            </a:r>
          </a:p>
          <a:p>
            <a:pPr/>
            <a:r>
              <a:rPr lang="en-US" sz="2000"/>
              <a:t>explicit form.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What was once tactfully vague became numerically</a:t>
            </a:r>
          </a:p>
          <a:p>
            <a:pPr/>
            <a:r>
              <a:rPr lang="en-US" sz="2000"/>
              <a:t>legible.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Interface design can formalize status and</a:t>
            </a:r>
          </a:p>
          <a:p>
            <a:pPr/>
            <a:r>
              <a:rPr lang="en-US" sz="2000"/>
              <a:t>intensify comparison.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Today's equivalents might include close-friends</a:t>
            </a:r>
          </a:p>
          <a:p>
            <a:pPr/>
            <a:r>
              <a:rPr lang="en-US" sz="2000"/>
              <a:t>lists, streaks, like counts, reposts, and</a:t>
            </a:r>
          </a:p>
          <a:p>
            <a:pPr/>
            <a:r>
              <a:rPr lang="en-US" sz="2000"/>
              <a:t>algorithmic visibility.</a:t>
            </a:r>
          </a:p>
          <a:endParaRPr lang="en-US" sz="2000" dirty="0"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Example 4: status, attention, and drama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Social media amplify gossip, rumor, jealousy, and</a:t>
            </a:r>
          </a:p>
          <a:p>
            <a:pPr/>
            <a:r>
              <a:rPr lang="en-US" sz="2000"/>
              <a:t>conflict.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The chapter argues that the drama is often not</a:t>
            </a:r>
          </a:p>
          <a:p>
            <a:pPr/>
            <a:r>
              <a:rPr lang="en-US" sz="2000"/>
              <a:t>new; it is reformatted.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Networked visibility creates larger audiences,</a:t>
            </a:r>
          </a:p>
          <a:p>
            <a:pPr/>
            <a:r>
              <a:rPr lang="en-US" sz="2000"/>
              <a:t>more persistence, faster spread, and harder context</a:t>
            </a:r>
          </a:p>
          <a:p>
            <a:pPr/>
            <a:r>
              <a:rPr lang="en-US" sz="2000"/>
              <a:t>interpretation.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Ordinary peer conflict becomes more consequential</a:t>
            </a:r>
          </a:p>
          <a:p>
            <a:pPr/>
            <a:r>
              <a:rPr lang="en-US" sz="2000"/>
              <a:t>when it is public, archived, and screenshot-ready.</a:t>
            </a:r>
          </a:p>
          <a:endParaRPr lang="en-US" sz="2000" dirty="0"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Theoretical dialogue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Goffman: self-presentation becomes networked and</a:t>
            </a:r>
          </a:p>
          <a:p>
            <a:pPr/>
            <a:r>
              <a:rPr lang="en-US" sz="2000"/>
              <a:t>audience-collapsed.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Bourdieu: friendship can work like social capital,</a:t>
            </a:r>
          </a:p>
          <a:p>
            <a:pPr/>
            <a:r>
              <a:rPr lang="en-US" sz="2000"/>
              <a:t>and platforms make that capital visible and</a:t>
            </a:r>
          </a:p>
          <a:p>
            <a:pPr/>
            <a:r>
              <a:rPr lang="en-US" sz="2000"/>
              <a:t>countable.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Affordance theory: technological features shape</a:t>
            </a:r>
          </a:p>
          <a:p>
            <a:pPr/>
            <a:r>
              <a:rPr lang="en-US" sz="2000"/>
              <a:t>interaction without mechanically determining it.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Habermas as contrast: these are not</a:t>
            </a:r>
          </a:p>
          <a:p>
            <a:pPr/>
            <a:r>
              <a:rPr lang="en-US" sz="2000"/>
              <a:t>rational-critical publics, but affective and</a:t>
            </a:r>
          </a:p>
          <a:p>
            <a:pPr/>
            <a:r>
              <a:rPr lang="en-US" sz="2000"/>
              <a:t>status-laden peer publics.</a:t>
            </a:r>
          </a:p>
          <a:endParaRPr lang="en-US" sz="2000" dirty="0"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My critique and update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Strengths: rich ethnography, no simple</a:t>
            </a:r>
          </a:p>
          <a:p>
            <a:pPr/>
            <a:r>
              <a:rPr lang="en-US" sz="2000"/>
              <a:t>technological determinism, teens treated as serious</a:t>
            </a:r>
          </a:p>
          <a:p>
            <a:pPr/>
            <a:r>
              <a:rPr lang="en-US" sz="2000"/>
              <a:t>social actors.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Limits: U.S.-centered, school-centered, tied to</a:t>
            </a:r>
          </a:p>
          <a:p>
            <a:pPr/>
            <a:r>
              <a:rPr lang="en-US" sz="2000"/>
              <a:t>the MySpace/Facebook era.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The chapter underplays platform capitalism and</a:t>
            </a:r>
          </a:p>
          <a:p>
            <a:pPr/>
            <a:r>
              <a:rPr lang="en-US" sz="2000"/>
              <a:t>algorithmic curation.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Update for 2026: friendship performance now</a:t>
            </a:r>
          </a:p>
          <a:p>
            <a:pPr/>
            <a:r>
              <a:rPr lang="en-US" sz="2000"/>
              <a:t>intersects with recommendation systems, screenshots,</a:t>
            </a:r>
          </a:p>
          <a:p>
            <a:pPr/>
            <a:r>
              <a:rPr lang="en-US" sz="2000"/>
              <a:t>influencers, and cross-platform circulation.</a:t>
            </a:r>
          </a:p>
          <a:endParaRPr lang="en-US" sz="2000" dirty="0"/>
        </p:txBody>
      </p:sp>
      <p:sp>
        <p:nvSpPr>
          <p:cNvPr id="1" name="TextBox"/>
          <p:cNvSpPr txBox="1"/>
          <p:nvPr/>
        </p:nvSpPr>
        <p:spPr>
          <a:xfrm>
            <a:off x="731520" y="6309360"/>
            <a:ext cx="1060704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1500"/>
              <a:t>Discussion: Does algorithmic recommendation now shape friendship as much as peer</a:t>
            </a:r>
          </a:p>
          <a:p>
            <a:pPr/>
            <a:r>
              <a:rPr lang="en-US" sz="1500"/>
              <a:t>choice does?</a:t>
            </a:r>
          </a:p>
          <a:endParaRPr lang="en-US" sz="1500" dirty="0"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Activity: redesign a friendship platform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2 minutes individual thinking, 3 minutes pair</a:t>
            </a:r>
          </a:p>
          <a:p>
            <a:pPr/>
            <a:r>
              <a:rPr lang="en-US" sz="2000"/>
              <a:t>discussion, 3 minutes share-out.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Design a platform for friendship rather than</a:t>
            </a:r>
          </a:p>
          <a:p>
            <a:pPr/>
            <a:r>
              <a:rPr lang="en-US" sz="2000"/>
              <a:t>attention extraction.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Remove, redesign, or add one feature: likes,</a:t>
            </a:r>
          </a:p>
          <a:p>
            <a:pPr/>
            <a:r>
              <a:rPr lang="en-US" sz="2000"/>
              <a:t>friend counts, read receipts, ranking systems,</a:t>
            </a:r>
          </a:p>
          <a:p>
            <a:pPr/>
            <a:r>
              <a:rPr lang="en-US" sz="2000"/>
              <a:t>screenshots, or algorithmic feeds.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Theory requirement: what communication problem</a:t>
            </a:r>
          </a:p>
          <a:p>
            <a:pPr/>
            <a:r>
              <a:rPr lang="en-US" sz="2000"/>
              <a:t>does your redesign solve, and what new problem might</a:t>
            </a:r>
          </a:p>
          <a:p>
            <a:pPr/>
            <a:r>
              <a:rPr lang="en-US" sz="2000"/>
              <a:t>it create?</a:t>
            </a:r>
          </a:p>
          <a:endParaRPr lang="en-US" sz="2000" dirty="0"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Meme option if you want a playful version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Prompt: make a meme that captures one idea from</a:t>
            </a:r>
          </a:p>
          <a:p>
            <a:pPr/>
            <a:r>
              <a:rPr lang="en-US" sz="2000"/>
              <a:t>the chapter.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Possible themes: Top Friends ruined diplomacy;</a:t>
            </a:r>
          </a:p>
          <a:p>
            <a:pPr/>
            <a:r>
              <a:rPr lang="en-US" sz="2000"/>
              <a:t>audience collapse starter pack; friendship as</a:t>
            </a:r>
          </a:p>
          <a:p>
            <a:pPr/>
            <a:r>
              <a:rPr lang="en-US" sz="2000"/>
              <a:t>dashboard metric.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Debrief question 1: what theory is embedded in the</a:t>
            </a:r>
          </a:p>
          <a:p>
            <a:pPr/>
            <a:r>
              <a:rPr lang="en-US" sz="2000"/>
              <a:t>meme?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Debrief question 2: what critique of platform</a:t>
            </a:r>
          </a:p>
          <a:p>
            <a:pPr/>
            <a:r>
              <a:rPr lang="en-US" sz="2000"/>
              <a:t>culture does it make?</a:t>
            </a:r>
          </a:p>
          <a:endParaRPr lang="en-US" sz="2000" dirty="0"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Conclusion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Friendship is not outside media systems.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Platforms do not replace social life; they</a:t>
            </a:r>
          </a:p>
          <a:p>
            <a:pPr/>
            <a:r>
              <a:rPr lang="en-US" sz="2000"/>
              <a:t>reorganize its visibility, temporality, and stakes.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The chapter remains valuable because it gives us a</a:t>
            </a:r>
          </a:p>
          <a:p>
            <a:pPr/>
            <a:r>
              <a:rPr lang="en-US" sz="2000"/>
              <a:t>vocabulary for mediated friendship as social</a:t>
            </a:r>
          </a:p>
          <a:p>
            <a:pPr/>
            <a:r>
              <a:rPr lang="en-US" sz="2000"/>
              <a:t>practice.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Final question: if friendship is always</a:t>
            </a:r>
          </a:p>
          <a:p>
            <a:pPr/>
            <a:r>
              <a:rPr lang="en-US" sz="2000"/>
              <a:t>communicatively performed, what kinds of friendship</a:t>
            </a:r>
          </a:p>
          <a:p>
            <a:pPr/>
            <a:r>
              <a:rPr lang="en-US" sz="2000"/>
              <a:t>do platforms make imaginable?</a:t>
            </a:r>
          </a:p>
          <a:endParaRPr lang="en-US" sz="2000" dirty="0"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"/>
          <p:cNvSpPr txBox="1"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0" rIns="0" tIns="0" bIns="0" anchor="t"/>
          <a:lstStyle/>
          <a:endParaRPr lang="en-US" sz="2200" dirty="0"/>
        </p:txBody>
      </p:sp>
      <p:sp>
        <p:nvSpPr>
          <p:cNvPr id="1" name="TextBox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120000" rIns="120000" tIns="70000" bIns="70000" anchor="t"/>
          <a:lstStyle/>
          <a:p>
            <a:pPr/>
            <a:r>
              <a:rPr lang="en-US" sz="2800" b="1"/>
              <a:t>Suggested media and sources</a:t>
            </a:r>
          </a:p>
          <a:endParaRPr lang="en-US" sz="2800" dirty="0"/>
        </p:txBody>
      </p:sp>
      <p:sp>
        <p:nvSpPr>
          <p:cNvPr id="1" name="TextBox"/>
          <p:cNvSpPr txBox="1"/>
          <p:nvPr/>
        </p:nvSpPr>
        <p:spPr>
          <a:xfrm>
            <a:off x="731520" y="1417320"/>
            <a:ext cx="106070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rIns="120000" tIns="70000" bIns="70000" anchor="t"/>
          <a:lstStyle/>
          <a:p>
            <a:pPr/>
            <a:r>
              <a:rPr lang="en-US" sz="2000"/>
              <a:t>• MIT Press book page:</a:t>
            </a:r>
          </a:p>
          <a:p>
            <a:pPr/>
            <a:r>
              <a:rPr lang="en-US" sz="2000"/>
              <a:t>mitpress.mit.edu/9780262258265/hanging-out-messing-around-and-geeking-out/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Open PDF used for chapter reference:</a:t>
            </a:r>
          </a:p>
          <a:p>
            <a:pPr/>
            <a:r>
              <a:rPr lang="en-US" sz="2000"/>
              <a:t>s3.amazonaws.com/files.commons.gc.cuny.edu/.../Ito-Hanging_Out.pdf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danah boyd bio: datasociety.net/people/boyd-danah/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Mizuko Ito bio:</a:t>
            </a:r>
          </a:p>
          <a:p>
            <a:pPr/>
            <a:r>
              <a:rPr lang="en-US" sz="2000"/>
              <a:t>mitpress.mit.edu/author/mizuko-ito-6754</a:t>
            </a:r>
          </a:p>
          <a:p>
            <a:pPr/>
            <a:r>
              <a:rPr lang="en-US" sz="2000"/>
              <a:t/>
            </a:r>
          </a:p>
          <a:p>
            <a:pPr/>
            <a:r>
              <a:rPr lang="en-US" sz="2000"/>
              <a:t>• Video suggestion: PBS Frontline, Growing Up Online</a:t>
            </a:r>
          </a:p>
          <a:p>
            <a:pPr/>
            <a:r>
              <a:rPr lang="en-US" sz="2000"/>
              <a:t>(2008): pbs.org/video/frontline-growing-up-online/</a:t>
            </a:r>
          </a:p>
          <a:endParaRPr lang="en-US" sz="2000" dirty="0"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Theme">
  <a:themeElements>
    <a:clrScheme name="Simple">
      <a:dk1>
        <a:srgbClr val="0F172A"/>
      </a:dk1>
      <a:lt1>
        <a:srgbClr val="FFFFFF"/>
      </a:lt1>
      <a:dk2>
        <a:srgbClr val="1F2937"/>
      </a:dk2>
      <a:lt2>
        <a:srgbClr val="F8FAFC"/>
      </a:lt2>
      <a:accent1>
        <a:srgbClr val="0F766E"/>
      </a:accent1>
      <a:accent2>
        <a:srgbClr val="2563EB"/>
      </a:accent2>
      <a:accent3>
        <a:srgbClr val="F59E0B"/>
      </a:accent3>
      <a:accent4>
        <a:srgbClr val="DC2626"/>
      </a:accent4>
      <a:accent5>
        <a:srgbClr val="7C3AED"/>
      </a:accent5>
      <a:accent6>
        <a:srgbClr val="475569"/>
      </a:accent6>
      <a:hlink>
        <a:srgbClr val="2563EB"/>
      </a:hlink>
      <a:folHlink>
        <a:srgbClr val="7C3AED"/>
      </a:folHlink>
    </a:clrScheme>
    <a:fontScheme name="Simpl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i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5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(4:3)</PresentationFormat>
  <Slides>18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18</vt:i4>
      </vt:variant>
    </vt:vector>
  </HeadingPairs>
  <TitlesOfParts>
    <vt:vector size="18" baseType="lpstr"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  <vt:lpstr>Slide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Friendship Presentation</dc:title>
  <dc:subject>Communication Theory</dc:subject>
  <dc:creator>Codex</dc:creator>
  <cp:keywords>friendship; danah boyd; communication theory</cp:keywords>
  <dc:description>Slides for a 45-minute presentation on chapter 2, Friendship.</dc:description>
  <cp:lastModifiedBy>Codex</cp:lastModifiedBy>
  <dcterms:created xsi:type="dcterms:W3CDTF">2026-04-17T19:27:35Z</dcterms:created>
  <dcterms:modified xsi:type="dcterms:W3CDTF">2026-04-17T19:27:35Z</dcterms:modified>
</cp:coreProperties>
</file>